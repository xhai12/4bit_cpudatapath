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F9B14-606F-44BA-A257-C1A15C9EAE91}" v="358" dt="2026-10-01T18:47:40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14/10/2026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666750" y="527051"/>
            <a:ext cx="5810250" cy="958851"/>
          </a:xfrm>
        </p:spPr>
        <p:txBody>
          <a:bodyPr>
            <a:normAutofit/>
          </a:bodyPr>
          <a:lstStyle/>
          <a:p>
            <a:r>
              <a:rPr lang="vi-VN" dirty="0">
                <a:latin typeface="Times New Roman"/>
                <a:cs typeface="Times New Roman"/>
              </a:rPr>
              <a:t>Bùi Xuân Hải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19062" y="1490663"/>
            <a:ext cx="7969250" cy="12906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600" dirty="0" err="1">
                <a:latin typeface="Arial"/>
                <a:cs typeface="Arial"/>
              </a:rPr>
              <a:t>Role</a:t>
            </a:r>
            <a:r>
              <a:rPr lang="vi-VN" sz="3600" dirty="0">
                <a:latin typeface="Arial"/>
                <a:cs typeface="Arial"/>
              </a:rPr>
              <a:t> </a:t>
            </a:r>
            <a:r>
              <a:rPr lang="vi-VN" sz="3600" dirty="0" err="1">
                <a:latin typeface="Arial"/>
                <a:cs typeface="Arial"/>
              </a:rPr>
              <a:t>number</a:t>
            </a:r>
            <a:r>
              <a:rPr lang="vi-VN" sz="3600" dirty="0">
                <a:latin typeface="Arial"/>
                <a:cs typeface="Arial"/>
              </a:rPr>
              <a:t>​ : HE200952</a:t>
            </a:r>
            <a:endParaRPr lang="vi-VN" sz="3600">
              <a:latin typeface="Arial"/>
              <a:cs typeface="Arial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A272A41-4A64-044B-C41C-8FAD95F741BB}"/>
              </a:ext>
            </a:extLst>
          </p:cNvPr>
          <p:cNvSpPr txBox="1"/>
          <p:nvPr/>
        </p:nvSpPr>
        <p:spPr>
          <a:xfrm>
            <a:off x="560705" y="3065463"/>
            <a:ext cx="27432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4000" dirty="0">
                <a:latin typeface="Arial"/>
                <a:cs typeface="Arial"/>
              </a:rPr>
              <a:t>Project 1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06C5DA57-E6EC-2515-A9F1-7D16C877E000}"/>
              </a:ext>
            </a:extLst>
          </p:cNvPr>
          <p:cNvSpPr txBox="1"/>
          <p:nvPr/>
        </p:nvSpPr>
        <p:spPr>
          <a:xfrm>
            <a:off x="1114425" y="4167505"/>
            <a:ext cx="1072832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4400" b="1" dirty="0">
                <a:latin typeface="Arial"/>
                <a:ea typeface="+mn-lt"/>
                <a:cs typeface="Arial"/>
              </a:rPr>
              <a:t>4-bit </a:t>
            </a:r>
            <a:r>
              <a:rPr lang="vi-VN" sz="4400" b="1" dirty="0" err="1">
                <a:latin typeface="Arial"/>
                <a:ea typeface="+mn-lt"/>
                <a:cs typeface="Arial"/>
              </a:rPr>
              <a:t>adder</a:t>
            </a:r>
            <a:r>
              <a:rPr lang="vi-VN" sz="4400" b="1" dirty="0">
                <a:latin typeface="Arial"/>
                <a:ea typeface="+mn-lt"/>
                <a:cs typeface="Arial"/>
              </a:rPr>
              <a:t> / </a:t>
            </a:r>
            <a:r>
              <a:rPr lang="vi-VN" sz="4400" b="1" dirty="0" err="1">
                <a:latin typeface="Arial"/>
                <a:ea typeface="+mn-lt"/>
                <a:cs typeface="Arial"/>
              </a:rPr>
              <a:t>subtractor</a:t>
            </a:r>
            <a:r>
              <a:rPr lang="vi-VN" sz="4400" b="1" dirty="0">
                <a:latin typeface="Arial"/>
                <a:ea typeface="+mn-lt"/>
                <a:cs typeface="Arial"/>
              </a:rPr>
              <a:t> </a:t>
            </a:r>
            <a:r>
              <a:rPr lang="vi-VN" sz="4400" b="1" dirty="0" err="1">
                <a:latin typeface="Arial"/>
                <a:ea typeface="+mn-lt"/>
                <a:cs typeface="Arial"/>
              </a:rPr>
              <a:t>with</a:t>
            </a:r>
            <a:r>
              <a:rPr lang="vi-VN" sz="4400" b="1" dirty="0">
                <a:latin typeface="Arial"/>
                <a:ea typeface="+mn-lt"/>
                <a:cs typeface="Arial"/>
              </a:rPr>
              <a:t> </a:t>
            </a:r>
            <a:r>
              <a:rPr lang="vi-VN" sz="4400" b="1" dirty="0" err="1">
                <a:latin typeface="Arial"/>
                <a:ea typeface="+mn-lt"/>
                <a:cs typeface="Arial"/>
              </a:rPr>
              <a:t>overflow</a:t>
            </a:r>
            <a:endParaRPr lang="vi-VN" sz="4400">
              <a:latin typeface="Arial"/>
              <a:cs typeface="Arial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001C1D42-AE85-A880-3E11-0F3BED459B46}"/>
              </a:ext>
            </a:extLst>
          </p:cNvPr>
          <p:cNvSpPr txBox="1"/>
          <p:nvPr/>
        </p:nvSpPr>
        <p:spPr>
          <a:xfrm>
            <a:off x="1469390" y="2132330"/>
            <a:ext cx="52673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3600" dirty="0">
                <a:latin typeface="Arial"/>
                <a:cs typeface="Arial"/>
              </a:rPr>
              <a:t>Đại ​học FPT Hà Nội</a:t>
            </a: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4A7DF37-FD8A-4255-B3BD-FE1BCE28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latin typeface="Times New Roman"/>
                <a:ea typeface="+mj-lt"/>
                <a:cs typeface="Times New Roman"/>
              </a:rPr>
              <a:t>Operating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principle</a:t>
            </a:r>
            <a:endParaRPr lang="vi-VN" dirty="0" err="1">
              <a:latin typeface="Times New Roman"/>
              <a:cs typeface="Times New Roman"/>
            </a:endParaRP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B295093-5B62-8A94-B644-7B2C57CE5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vi-VN" dirty="0" err="1">
                <a:latin typeface="Arial"/>
                <a:ea typeface="+mn-lt"/>
                <a:cs typeface="Arial"/>
              </a:rPr>
              <a:t>Circuit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Concept</a:t>
            </a:r>
            <a:r>
              <a:rPr lang="vi-VN" dirty="0">
                <a:latin typeface="Arial"/>
                <a:ea typeface="+mn-lt"/>
                <a:cs typeface="Arial"/>
              </a:rPr>
              <a:t>:</a:t>
            </a:r>
            <a:endParaRPr lang="vi-VN"/>
          </a:p>
          <a:p>
            <a:r>
              <a:rPr lang="vi-VN" dirty="0">
                <a:latin typeface="Arial"/>
                <a:ea typeface="+mn-lt"/>
                <a:cs typeface="Arial"/>
              </a:rPr>
              <a:t>The </a:t>
            </a:r>
            <a:r>
              <a:rPr lang="vi-VN" dirty="0" err="1">
                <a:latin typeface="Arial"/>
                <a:ea typeface="+mn-lt"/>
                <a:cs typeface="Arial"/>
              </a:rPr>
              <a:t>circuit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is</a:t>
            </a:r>
            <a:r>
              <a:rPr lang="vi-VN" dirty="0">
                <a:latin typeface="Arial"/>
                <a:ea typeface="+mn-lt"/>
                <a:cs typeface="Arial"/>
              </a:rPr>
              <a:t> a 4-bit </a:t>
            </a:r>
            <a:r>
              <a:rPr lang="vi-VN" dirty="0" err="1">
                <a:latin typeface="Arial"/>
                <a:ea typeface="+mn-lt"/>
                <a:cs typeface="Arial"/>
              </a:rPr>
              <a:t>arithmetic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unit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capable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of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both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addition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and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subtraction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based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on</a:t>
            </a:r>
            <a:r>
              <a:rPr lang="vi-VN" dirty="0">
                <a:latin typeface="Arial"/>
                <a:ea typeface="+mn-lt"/>
                <a:cs typeface="Arial"/>
              </a:rPr>
              <a:t> a </a:t>
            </a:r>
            <a:r>
              <a:rPr lang="vi-VN" dirty="0" err="1">
                <a:latin typeface="Arial"/>
                <a:ea typeface="+mn-lt"/>
                <a:cs typeface="Arial"/>
              </a:rPr>
              <a:t>control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signal</a:t>
            </a:r>
            <a:r>
              <a:rPr lang="vi-VN" dirty="0">
                <a:latin typeface="Arial"/>
                <a:ea typeface="+mn-lt"/>
                <a:cs typeface="Arial"/>
              </a:rPr>
              <a:t> (</a:t>
            </a:r>
            <a:r>
              <a:rPr lang="vi-VN" dirty="0" err="1">
                <a:latin typeface="Consolas"/>
                <a:cs typeface="Arial"/>
              </a:rPr>
              <a:t>sub</a:t>
            </a:r>
            <a:r>
              <a:rPr lang="vi-VN" dirty="0">
                <a:latin typeface="Arial"/>
                <a:ea typeface="+mn-lt"/>
                <a:cs typeface="Arial"/>
              </a:rPr>
              <a:t>).</a:t>
            </a:r>
          </a:p>
          <a:p>
            <a:r>
              <a:rPr lang="vi-VN" b="1" dirty="0" err="1">
                <a:latin typeface="Arial"/>
                <a:ea typeface="+mn-lt"/>
                <a:cs typeface="Arial"/>
              </a:rPr>
              <a:t>Addition</a:t>
            </a:r>
            <a:r>
              <a:rPr lang="vi-VN" b="1" dirty="0">
                <a:latin typeface="Arial"/>
                <a:ea typeface="+mn-lt"/>
                <a:cs typeface="Arial"/>
              </a:rPr>
              <a:t> (</a:t>
            </a:r>
            <a:r>
              <a:rPr lang="vi-VN" b="1" dirty="0" err="1">
                <a:latin typeface="Consolas"/>
                <a:cs typeface="Arial"/>
              </a:rPr>
              <a:t>sub</a:t>
            </a:r>
            <a:r>
              <a:rPr lang="vi-VN" b="1" dirty="0">
                <a:latin typeface="Consolas"/>
                <a:cs typeface="Arial"/>
              </a:rPr>
              <a:t> = 0</a:t>
            </a:r>
            <a:r>
              <a:rPr lang="vi-VN" b="1" dirty="0">
                <a:latin typeface="Arial"/>
                <a:ea typeface="+mn-lt"/>
                <a:cs typeface="Arial"/>
              </a:rPr>
              <a:t>):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Operates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as</a:t>
            </a:r>
            <a:r>
              <a:rPr lang="vi-VN" dirty="0">
                <a:latin typeface="Arial"/>
                <a:ea typeface="+mn-lt"/>
                <a:cs typeface="Arial"/>
              </a:rPr>
              <a:t> a </a:t>
            </a:r>
            <a:r>
              <a:rPr lang="vi-VN" dirty="0" err="1">
                <a:latin typeface="Arial"/>
                <a:ea typeface="+mn-lt"/>
                <a:cs typeface="Arial"/>
              </a:rPr>
              <a:t>standard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ripple-carry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adder</a:t>
            </a:r>
            <a:r>
              <a:rPr lang="vi-VN" dirty="0">
                <a:latin typeface="Arial"/>
                <a:ea typeface="+mn-lt"/>
                <a:cs typeface="Arial"/>
              </a:rPr>
              <a:t>.</a:t>
            </a:r>
          </a:p>
          <a:p>
            <a:r>
              <a:rPr lang="vi-VN" b="1" dirty="0" err="1">
                <a:latin typeface="Arial"/>
                <a:ea typeface="+mn-lt"/>
                <a:cs typeface="Arial"/>
              </a:rPr>
              <a:t>Subtraction</a:t>
            </a:r>
            <a:r>
              <a:rPr lang="vi-VN" b="1" dirty="0">
                <a:latin typeface="Arial"/>
                <a:ea typeface="+mn-lt"/>
                <a:cs typeface="Arial"/>
              </a:rPr>
              <a:t> (</a:t>
            </a:r>
            <a:r>
              <a:rPr lang="vi-VN" b="1" dirty="0" err="1">
                <a:latin typeface="Consolas"/>
                <a:cs typeface="Arial"/>
              </a:rPr>
              <a:t>sub</a:t>
            </a:r>
            <a:r>
              <a:rPr lang="vi-VN" b="1" dirty="0">
                <a:latin typeface="Consolas"/>
                <a:cs typeface="Arial"/>
              </a:rPr>
              <a:t> = 1</a:t>
            </a:r>
            <a:r>
              <a:rPr lang="vi-VN" b="1" dirty="0">
                <a:latin typeface="Arial"/>
                <a:ea typeface="+mn-lt"/>
                <a:cs typeface="Arial"/>
              </a:rPr>
              <a:t>):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Computes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>
                <a:latin typeface="Consolas"/>
                <a:cs typeface="Arial"/>
              </a:rPr>
              <a:t>A - B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by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utilizing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two's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complement</a:t>
            </a:r>
            <a:r>
              <a:rPr lang="vi-VN" dirty="0">
                <a:latin typeface="Arial"/>
                <a:ea typeface="+mn-lt"/>
                <a:cs typeface="Arial"/>
              </a:rPr>
              <a:t> (</a:t>
            </a:r>
            <a:r>
              <a:rPr lang="vi-VN" dirty="0">
                <a:latin typeface="Consolas"/>
                <a:cs typeface="Arial"/>
              </a:rPr>
              <a:t>A + ~B + 1</a:t>
            </a:r>
            <a:r>
              <a:rPr lang="vi-VN" dirty="0">
                <a:latin typeface="Arial"/>
                <a:ea typeface="+mn-lt"/>
                <a:cs typeface="Arial"/>
              </a:rPr>
              <a:t>). The </a:t>
            </a:r>
            <a:r>
              <a:rPr lang="vi-VN" dirty="0" err="1">
                <a:latin typeface="Consolas"/>
                <a:cs typeface="Arial"/>
              </a:rPr>
              <a:t>sub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signal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acts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as</a:t>
            </a:r>
            <a:r>
              <a:rPr lang="vi-VN" dirty="0">
                <a:latin typeface="Arial"/>
                <a:ea typeface="+mn-lt"/>
                <a:cs typeface="Arial"/>
              </a:rPr>
              <a:t> the </a:t>
            </a:r>
            <a:r>
              <a:rPr lang="vi-VN" dirty="0" err="1">
                <a:latin typeface="Arial"/>
                <a:ea typeface="+mn-lt"/>
                <a:cs typeface="Arial"/>
              </a:rPr>
              <a:t>carry</a:t>
            </a:r>
            <a:r>
              <a:rPr lang="vi-VN" dirty="0">
                <a:latin typeface="Arial"/>
                <a:ea typeface="+mn-lt"/>
                <a:cs typeface="Arial"/>
              </a:rPr>
              <a:t>-in </a:t>
            </a:r>
            <a:r>
              <a:rPr lang="vi-VN" dirty="0" err="1">
                <a:latin typeface="Arial"/>
                <a:ea typeface="+mn-lt"/>
                <a:cs typeface="Arial"/>
              </a:rPr>
              <a:t>for</a:t>
            </a:r>
            <a:r>
              <a:rPr lang="vi-VN" dirty="0">
                <a:latin typeface="Arial"/>
                <a:ea typeface="+mn-lt"/>
                <a:cs typeface="Arial"/>
              </a:rPr>
              <a:t> the </a:t>
            </a:r>
            <a:r>
              <a:rPr lang="vi-VN" dirty="0" err="1">
                <a:latin typeface="Arial"/>
                <a:ea typeface="+mn-lt"/>
                <a:cs typeface="Arial"/>
              </a:rPr>
              <a:t>first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bit</a:t>
            </a:r>
            <a:r>
              <a:rPr lang="vi-VN" dirty="0">
                <a:latin typeface="Arial"/>
                <a:ea typeface="+mn-lt"/>
                <a:cs typeface="Arial"/>
              </a:rPr>
              <a:t>.</a:t>
            </a:r>
          </a:p>
          <a:p>
            <a:r>
              <a:rPr lang="vi-VN" b="1" dirty="0" err="1">
                <a:latin typeface="Arial"/>
                <a:ea typeface="+mn-lt"/>
                <a:cs typeface="Arial"/>
              </a:rPr>
              <a:t>Overflow</a:t>
            </a:r>
            <a:r>
              <a:rPr lang="vi-VN" b="1" dirty="0">
                <a:latin typeface="Arial"/>
                <a:ea typeface="+mn-lt"/>
                <a:cs typeface="Arial"/>
              </a:rPr>
              <a:t> </a:t>
            </a:r>
            <a:r>
              <a:rPr lang="vi-VN" b="1" dirty="0" err="1">
                <a:latin typeface="Arial"/>
                <a:ea typeface="+mn-lt"/>
                <a:cs typeface="Arial"/>
              </a:rPr>
              <a:t>Detection</a:t>
            </a:r>
            <a:r>
              <a:rPr lang="vi-VN" b="1" dirty="0">
                <a:latin typeface="Arial"/>
                <a:ea typeface="+mn-lt"/>
                <a:cs typeface="Arial"/>
              </a:rPr>
              <a:t>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Implemented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using</a:t>
            </a:r>
            <a:r>
              <a:rPr lang="vi-VN" dirty="0">
                <a:latin typeface="Arial"/>
                <a:ea typeface="+mn-lt"/>
                <a:cs typeface="Arial"/>
              </a:rPr>
              <a:t> an XOR </a:t>
            </a:r>
            <a:r>
              <a:rPr lang="vi-VN" dirty="0" err="1">
                <a:latin typeface="Arial"/>
                <a:ea typeface="+mn-lt"/>
                <a:cs typeface="Arial"/>
              </a:rPr>
              <a:t>gate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between</a:t>
            </a:r>
            <a:r>
              <a:rPr lang="vi-VN" dirty="0">
                <a:latin typeface="Arial"/>
                <a:ea typeface="+mn-lt"/>
                <a:cs typeface="Arial"/>
              </a:rPr>
              <a:t> the </a:t>
            </a:r>
            <a:r>
              <a:rPr lang="vi-VN" dirty="0" err="1">
                <a:latin typeface="Arial"/>
                <a:ea typeface="+mn-lt"/>
                <a:cs typeface="Arial"/>
              </a:rPr>
              <a:t>carry</a:t>
            </a:r>
            <a:r>
              <a:rPr lang="vi-VN" dirty="0">
                <a:latin typeface="Arial"/>
                <a:ea typeface="+mn-lt"/>
                <a:cs typeface="Arial"/>
              </a:rPr>
              <a:t>-in to the MSB (</a:t>
            </a:r>
            <a:r>
              <a:rPr lang="vi-VN" dirty="0">
                <a:latin typeface="Consolas"/>
                <a:cs typeface="Arial"/>
              </a:rPr>
              <a:t>c3</a:t>
            </a:r>
            <a:r>
              <a:rPr lang="vi-VN" dirty="0">
                <a:latin typeface="Arial"/>
                <a:ea typeface="+mn-lt"/>
                <a:cs typeface="Arial"/>
              </a:rPr>
              <a:t>) </a:t>
            </a:r>
            <a:r>
              <a:rPr lang="vi-VN" dirty="0" err="1">
                <a:latin typeface="Arial"/>
                <a:ea typeface="+mn-lt"/>
                <a:cs typeface="Arial"/>
              </a:rPr>
              <a:t>and</a:t>
            </a:r>
            <a:r>
              <a:rPr lang="vi-VN" dirty="0">
                <a:latin typeface="Arial"/>
                <a:ea typeface="+mn-lt"/>
                <a:cs typeface="Arial"/>
              </a:rPr>
              <a:t> the </a:t>
            </a:r>
            <a:r>
              <a:rPr lang="vi-VN" dirty="0" err="1">
                <a:latin typeface="Arial"/>
                <a:ea typeface="+mn-lt"/>
                <a:cs typeface="Arial"/>
              </a:rPr>
              <a:t>carry-out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dirty="0" err="1">
                <a:latin typeface="Arial"/>
                <a:ea typeface="+mn-lt"/>
                <a:cs typeface="Arial"/>
              </a:rPr>
              <a:t>of</a:t>
            </a:r>
            <a:r>
              <a:rPr lang="vi-VN" dirty="0">
                <a:latin typeface="Arial"/>
                <a:ea typeface="+mn-lt"/>
                <a:cs typeface="Arial"/>
              </a:rPr>
              <a:t> the MSB (</a:t>
            </a:r>
            <a:r>
              <a:rPr lang="vi-VN" dirty="0">
                <a:latin typeface="Consolas"/>
                <a:cs typeface="Arial"/>
              </a:rPr>
              <a:t>c4</a:t>
            </a:r>
            <a:r>
              <a:rPr lang="vi-VN" dirty="0">
                <a:latin typeface="Arial"/>
                <a:ea typeface="+mn-lt"/>
                <a:cs typeface="Arial"/>
              </a:rPr>
              <a:t>).</a:t>
            </a:r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3958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2178E36-45AE-8482-0EE2-B6C3644D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01" y="-382021"/>
            <a:ext cx="10515600" cy="1325563"/>
          </a:xfrm>
        </p:spPr>
        <p:txBody>
          <a:bodyPr/>
          <a:lstStyle/>
          <a:p>
            <a:r>
              <a:rPr lang="vi-VN">
                <a:ea typeface="+mj-lt"/>
                <a:cs typeface="+mj-lt"/>
              </a:rPr>
              <a:t>Design</a:t>
            </a:r>
            <a:endParaRPr lang="vi-VN"/>
          </a:p>
        </p:txBody>
      </p:sp>
      <p:pic>
        <p:nvPicPr>
          <p:cNvPr id="4" name="Chỗ dành sẵn cho Nội dung 3" descr="Ảnh có chứa văn bản, ảnh chụp màn hình, số, màn hình&#10;&#10;Nội dung do AI tạo ra có thể không chính xác.">
            <a:extLst>
              <a:ext uri="{FF2B5EF4-FFF2-40B4-BE49-F238E27FC236}">
                <a16:creationId xmlns:a16="http://schemas.microsoft.com/office/drawing/2014/main" id="{7841234C-5992-189B-2591-BA2E47158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2" y="1732078"/>
            <a:ext cx="5194570" cy="4114800"/>
          </a:xfrm>
          <a:prstGeom prst="rect">
            <a:avLst/>
          </a:prstGeom>
        </p:spPr>
      </p:pic>
      <p:pic>
        <p:nvPicPr>
          <p:cNvPr id="5" name="Hình ảnh 4" descr="Ảnh có chứa văn bản, ảnh chụp màn hình, Phông chữ, số&#10;&#10;Nội dung do AI tạo ra có thể không chính xác.">
            <a:extLst>
              <a:ext uri="{FF2B5EF4-FFF2-40B4-BE49-F238E27FC236}">
                <a16:creationId xmlns:a16="http://schemas.microsoft.com/office/drawing/2014/main" id="{839168FC-4A59-43BF-CAC2-0340925AD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671" y="944880"/>
            <a:ext cx="3931920" cy="3985260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6456B59-950C-644F-69C6-38F7CD85A0C8}"/>
              </a:ext>
            </a:extLst>
          </p:cNvPr>
          <p:cNvSpPr txBox="1"/>
          <p:nvPr/>
        </p:nvSpPr>
        <p:spPr>
          <a:xfrm>
            <a:off x="133109" y="5998966"/>
            <a:ext cx="1162812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 dirty="0" err="1">
                <a:latin typeface="Arial"/>
                <a:ea typeface="+mn-lt"/>
                <a:cs typeface="Arial"/>
              </a:rPr>
              <a:t>Fully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implemented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using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Gate-Level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modeling</a:t>
            </a:r>
            <a:r>
              <a:rPr lang="vi-VN" sz="2800" dirty="0">
                <a:latin typeface="Arial"/>
                <a:ea typeface="+mn-lt"/>
                <a:cs typeface="Arial"/>
              </a:rPr>
              <a:t> (XOR, AND, OR </a:t>
            </a:r>
            <a:r>
              <a:rPr lang="vi-VN" sz="2800" dirty="0" err="1">
                <a:latin typeface="Arial"/>
                <a:ea typeface="+mn-lt"/>
                <a:cs typeface="Arial"/>
              </a:rPr>
              <a:t>gates</a:t>
            </a:r>
            <a:r>
              <a:rPr lang="vi-VN" sz="2800" dirty="0">
                <a:latin typeface="Arial"/>
                <a:ea typeface="+mn-lt"/>
                <a:cs typeface="Arial"/>
              </a:rPr>
              <a:t>).</a:t>
            </a:r>
            <a:r>
              <a:rPr lang="vi-VN" sz="3200" dirty="0">
                <a:latin typeface="Arial"/>
                <a:ea typeface="+mn-lt"/>
                <a:cs typeface="Arial"/>
              </a:rPr>
              <a:t> </a:t>
            </a:r>
          </a:p>
          <a:p>
            <a:endParaRPr lang="vi-VN" sz="3200" dirty="0">
              <a:latin typeface="Arial"/>
              <a:cs typeface="Arial"/>
            </a:endParaRPr>
          </a:p>
        </p:txBody>
      </p:sp>
      <p:pic>
        <p:nvPicPr>
          <p:cNvPr id="7" name="Hình ảnh 6" descr="Ảnh có chứa văn bản, ảnh chụp màn hình, Phông chữ, hàng&#10;&#10;Nội dung do AI tạo ra có thể không chính xác.">
            <a:extLst>
              <a:ext uri="{FF2B5EF4-FFF2-40B4-BE49-F238E27FC236}">
                <a16:creationId xmlns:a16="http://schemas.microsoft.com/office/drawing/2014/main" id="{7F867AD3-09A2-9DD0-0C5F-D271F9241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2" y="652643"/>
            <a:ext cx="5643383" cy="108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7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EC27680-B1EB-5A54-4C4B-6CBD54A8C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-635"/>
            <a:ext cx="10515600" cy="1325563"/>
          </a:xfrm>
        </p:spPr>
        <p:txBody>
          <a:bodyPr/>
          <a:lstStyle/>
          <a:p>
            <a:r>
              <a:rPr lang="vi-VN" dirty="0" err="1">
                <a:ea typeface="+mj-lt"/>
                <a:cs typeface="+mj-lt"/>
              </a:rPr>
              <a:t>Testbench</a:t>
            </a:r>
            <a:endParaRPr lang="vi-VN" dirty="0" err="1"/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94E86AF7-BE89-F213-2AD4-8DD045517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89" y="1143794"/>
            <a:ext cx="5448822" cy="4114800"/>
          </a:xfrm>
          <a:prstGeom prst="rect">
            <a:avLst/>
          </a:prstGeom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EE3CD1D5-3C8C-9791-FCE1-91F4A0B7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402" y="1143000"/>
            <a:ext cx="5072881" cy="4142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01636F8-1A80-4BB9-1DEE-5A2879A47BFE}"/>
              </a:ext>
            </a:extLst>
          </p:cNvPr>
          <p:cNvSpPr txBox="1"/>
          <p:nvPr/>
        </p:nvSpPr>
        <p:spPr>
          <a:xfrm>
            <a:off x="320329" y="5457270"/>
            <a:ext cx="10675522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vi-VN" sz="2000" b="1" dirty="0" err="1">
                <a:latin typeface="Arial"/>
                <a:ea typeface="+mn-lt"/>
                <a:cs typeface="Arial"/>
              </a:rPr>
              <a:t>Self-checking</a:t>
            </a:r>
            <a:r>
              <a:rPr lang="vi-VN" sz="2000" b="1" dirty="0">
                <a:latin typeface="Arial"/>
                <a:ea typeface="+mn-lt"/>
                <a:cs typeface="Arial"/>
              </a:rPr>
              <a:t> </a:t>
            </a:r>
            <a:r>
              <a:rPr lang="vi-VN" sz="2000" b="1" dirty="0" err="1">
                <a:latin typeface="Arial"/>
                <a:ea typeface="+mn-lt"/>
                <a:cs typeface="Arial"/>
              </a:rPr>
              <a:t>mechanism</a:t>
            </a:r>
            <a:r>
              <a:rPr lang="vi-VN" sz="2000" b="1" dirty="0">
                <a:latin typeface="Arial"/>
                <a:ea typeface="+mn-lt"/>
                <a:cs typeface="Arial"/>
              </a:rPr>
              <a:t>: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Automatically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verifies</a:t>
            </a:r>
            <a:r>
              <a:rPr lang="vi-VN" sz="2000" dirty="0">
                <a:latin typeface="Arial"/>
                <a:ea typeface="+mn-lt"/>
                <a:cs typeface="Arial"/>
              </a:rPr>
              <a:t> the </a:t>
            </a:r>
            <a:r>
              <a:rPr lang="vi-VN" sz="2000" dirty="0" err="1">
                <a:latin typeface="Arial"/>
                <a:ea typeface="+mn-lt"/>
                <a:cs typeface="Arial"/>
              </a:rPr>
              <a:t>output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against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expected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values</a:t>
            </a:r>
            <a:r>
              <a:rPr lang="vi-VN" sz="2000" dirty="0">
                <a:latin typeface="Arial"/>
                <a:ea typeface="+mn-lt"/>
                <a:cs typeface="Arial"/>
              </a:rPr>
              <a:t>.</a:t>
            </a:r>
            <a:endParaRPr lang="vi-VN"/>
          </a:p>
          <a:p>
            <a:pPr marL="342900" indent="-342900">
              <a:buFont typeface="Calibri"/>
              <a:buChar char="-"/>
            </a:pPr>
            <a:r>
              <a:rPr lang="vi-VN" sz="2000" dirty="0" err="1">
                <a:latin typeface="Arial"/>
                <a:ea typeface="+mn-lt"/>
                <a:cs typeface="Arial"/>
              </a:rPr>
              <a:t>Divided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into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b="1" dirty="0" err="1">
                <a:latin typeface="Arial"/>
                <a:ea typeface="+mn-lt"/>
                <a:cs typeface="Arial"/>
              </a:rPr>
              <a:t>Part</a:t>
            </a:r>
            <a:r>
              <a:rPr lang="vi-VN" sz="2000" b="1" dirty="0">
                <a:latin typeface="Arial"/>
                <a:ea typeface="+mn-lt"/>
                <a:cs typeface="Arial"/>
              </a:rPr>
              <a:t> 1 (</a:t>
            </a:r>
            <a:r>
              <a:rPr lang="vi-VN" sz="2000" b="1" dirty="0" err="1">
                <a:latin typeface="Arial"/>
                <a:ea typeface="+mn-lt"/>
                <a:cs typeface="Arial"/>
              </a:rPr>
              <a:t>Addition</a:t>
            </a:r>
            <a:r>
              <a:rPr lang="vi-VN" sz="2000" b="1" dirty="0">
                <a:latin typeface="Arial"/>
                <a:ea typeface="+mn-lt"/>
                <a:cs typeface="Arial"/>
              </a:rPr>
              <a:t>)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and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b="1" dirty="0" err="1">
                <a:latin typeface="Arial"/>
                <a:ea typeface="+mn-lt"/>
                <a:cs typeface="Arial"/>
              </a:rPr>
              <a:t>Part</a:t>
            </a:r>
            <a:r>
              <a:rPr lang="vi-VN" sz="2000" b="1" dirty="0">
                <a:latin typeface="Arial"/>
                <a:ea typeface="+mn-lt"/>
                <a:cs typeface="Arial"/>
              </a:rPr>
              <a:t> 2 (</a:t>
            </a:r>
            <a:r>
              <a:rPr lang="vi-VN" sz="2000" b="1" dirty="0" err="1">
                <a:latin typeface="Arial"/>
                <a:ea typeface="+mn-lt"/>
                <a:cs typeface="Arial"/>
              </a:rPr>
              <a:t>Subtraction</a:t>
            </a:r>
            <a:r>
              <a:rPr lang="vi-VN" sz="2000" b="1" dirty="0">
                <a:latin typeface="Arial"/>
                <a:ea typeface="+mn-lt"/>
                <a:cs typeface="Arial"/>
              </a:rPr>
              <a:t>)</a:t>
            </a:r>
          </a:p>
          <a:p>
            <a:pPr marL="342900" indent="-342900">
              <a:buFont typeface="Calibri"/>
              <a:buChar char="-"/>
            </a:pPr>
            <a:r>
              <a:rPr lang="vi-VN" sz="2000" dirty="0" err="1">
                <a:latin typeface="Arial"/>
                <a:ea typeface="+mn-lt"/>
                <a:cs typeface="Arial"/>
              </a:rPr>
              <a:t>Prints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Student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Name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and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Roll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Number</a:t>
            </a:r>
            <a:r>
              <a:rPr lang="vi-VN" sz="2000" dirty="0">
                <a:latin typeface="Arial"/>
                <a:ea typeface="+mn-lt"/>
                <a:cs typeface="Arial"/>
              </a:rPr>
              <a:t> to the </a:t>
            </a:r>
            <a:r>
              <a:rPr lang="vi-VN" sz="2000" dirty="0" err="1">
                <a:latin typeface="Arial"/>
                <a:ea typeface="+mn-lt"/>
                <a:cs typeface="Arial"/>
              </a:rPr>
              <a:t>console</a:t>
            </a:r>
            <a:r>
              <a:rPr lang="vi-VN" sz="2000" dirty="0">
                <a:latin typeface="Arial"/>
                <a:ea typeface="+mn-lt"/>
                <a:cs typeface="Arial"/>
              </a:rPr>
              <a:t>. </a:t>
            </a:r>
          </a:p>
          <a:p>
            <a:pPr marL="342900" indent="-342900">
              <a:buFont typeface="Calibri"/>
              <a:buChar char="-"/>
            </a:pPr>
            <a:r>
              <a:rPr lang="vi-VN" sz="2000" dirty="0" err="1">
                <a:latin typeface="Arial"/>
                <a:ea typeface="+mn-lt"/>
                <a:cs typeface="Arial"/>
              </a:rPr>
              <a:t>Ends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execution</a:t>
            </a:r>
            <a:r>
              <a:rPr lang="vi-VN" sz="2000" dirty="0">
                <a:latin typeface="Arial"/>
                <a:ea typeface="+mn-lt"/>
                <a:cs typeface="Arial"/>
              </a:rPr>
              <a:t> </a:t>
            </a:r>
            <a:r>
              <a:rPr lang="vi-VN" sz="2000" dirty="0" err="1">
                <a:latin typeface="Arial"/>
                <a:ea typeface="+mn-lt"/>
                <a:cs typeface="Arial"/>
              </a:rPr>
              <a:t>with</a:t>
            </a:r>
            <a:r>
              <a:rPr lang="vi-VN" sz="2000" dirty="0">
                <a:latin typeface="Arial"/>
                <a:ea typeface="+mn-lt"/>
                <a:cs typeface="Arial"/>
              </a:rPr>
              <a:t> a "</a:t>
            </a:r>
            <a:r>
              <a:rPr lang="vi-VN" sz="2000" b="1" dirty="0">
                <a:latin typeface="Arial"/>
                <a:ea typeface="+mn-lt"/>
                <a:cs typeface="Arial"/>
              </a:rPr>
              <a:t>PASS</a:t>
            </a:r>
            <a:r>
              <a:rPr lang="vi-VN" sz="2000" dirty="0">
                <a:latin typeface="Arial"/>
                <a:ea typeface="+mn-lt"/>
                <a:cs typeface="Arial"/>
              </a:rPr>
              <a:t>" </a:t>
            </a:r>
            <a:r>
              <a:rPr lang="vi-VN" sz="2000" dirty="0" err="1">
                <a:latin typeface="Arial"/>
                <a:ea typeface="+mn-lt"/>
                <a:cs typeface="Arial"/>
              </a:rPr>
              <a:t>statement</a:t>
            </a:r>
            <a:endParaRPr lang="vi-V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40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FC1D3AC-123E-103F-F26D-4120171E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ea typeface="+mj-lt"/>
                <a:cs typeface="+mj-lt"/>
              </a:rPr>
              <a:t>Test</a:t>
            </a:r>
            <a:r>
              <a:rPr lang="vi-VN" dirty="0">
                <a:ea typeface="+mj-lt"/>
                <a:cs typeface="+mj-lt"/>
              </a:rPr>
              <a:t> </a:t>
            </a:r>
            <a:r>
              <a:rPr lang="vi-VN" dirty="0" err="1">
                <a:ea typeface="+mj-lt"/>
                <a:cs typeface="+mj-lt"/>
              </a:rPr>
              <a:t>Case</a:t>
            </a:r>
            <a:r>
              <a:rPr lang="vi-VN" dirty="0">
                <a:ea typeface="+mj-lt"/>
                <a:cs typeface="+mj-lt"/>
              </a:rPr>
              <a:t> </a:t>
            </a:r>
            <a:r>
              <a:rPr lang="vi-VN" dirty="0" err="1">
                <a:ea typeface="+mj-lt"/>
                <a:cs typeface="+mj-lt"/>
              </a:rPr>
              <a:t>Table</a:t>
            </a:r>
            <a:endParaRPr lang="vi-VN" dirty="0" err="1"/>
          </a:p>
        </p:txBody>
      </p:sp>
      <p:pic>
        <p:nvPicPr>
          <p:cNvPr id="7" name="Chỗ dành sẵn cho Nội dung 6">
            <a:extLst>
              <a:ext uri="{FF2B5EF4-FFF2-40B4-BE49-F238E27FC236}">
                <a16:creationId xmlns:a16="http://schemas.microsoft.com/office/drawing/2014/main" id="{E88F2057-EB7B-E6EA-9EB7-01B34D2CB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846" y="1524114"/>
            <a:ext cx="10515600" cy="3256740"/>
          </a:xfrm>
          <a:prstGeom prst="rect">
            <a:avLst/>
          </a:prstGeom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7D999DFB-CB2B-F4BB-C9E8-483243264355}"/>
              </a:ext>
            </a:extLst>
          </p:cNvPr>
          <p:cNvSpPr txBox="1"/>
          <p:nvPr/>
        </p:nvSpPr>
        <p:spPr>
          <a:xfrm>
            <a:off x="838199" y="5196840"/>
            <a:ext cx="105156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800" dirty="0" err="1">
                <a:latin typeface="Arial"/>
                <a:ea typeface="+mn-lt"/>
                <a:cs typeface="Arial"/>
              </a:rPr>
              <a:t>This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table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shows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four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test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cases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for</a:t>
            </a:r>
            <a:r>
              <a:rPr lang="vi-VN" sz="2800" dirty="0">
                <a:latin typeface="Arial"/>
                <a:ea typeface="+mn-lt"/>
                <a:cs typeface="Arial"/>
              </a:rPr>
              <a:t> the 4-bit </a:t>
            </a:r>
            <a:r>
              <a:rPr lang="vi-VN" sz="2800" dirty="0" err="1">
                <a:latin typeface="Arial"/>
                <a:ea typeface="+mn-lt"/>
                <a:cs typeface="Arial"/>
              </a:rPr>
              <a:t>adder</a:t>
            </a:r>
            <a:r>
              <a:rPr lang="vi-VN" sz="2800" dirty="0">
                <a:latin typeface="Arial"/>
                <a:ea typeface="+mn-lt"/>
                <a:cs typeface="Arial"/>
              </a:rPr>
              <a:t>/</a:t>
            </a:r>
            <a:r>
              <a:rPr lang="vi-VN" sz="2800" dirty="0" err="1">
                <a:latin typeface="Arial"/>
                <a:ea typeface="+mn-lt"/>
                <a:cs typeface="Arial"/>
              </a:rPr>
              <a:t>subtractor</a:t>
            </a:r>
            <a:r>
              <a:rPr lang="vi-VN" sz="2800" dirty="0">
                <a:latin typeface="Arial"/>
                <a:ea typeface="+mn-lt"/>
                <a:cs typeface="Arial"/>
              </a:rPr>
              <a:t>. </a:t>
            </a:r>
            <a:r>
              <a:rPr lang="vi-VN" sz="2800" dirty="0" err="1">
                <a:latin typeface="Arial"/>
                <a:ea typeface="+mn-lt"/>
                <a:cs typeface="Arial"/>
              </a:rPr>
              <a:t>It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verifies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both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addition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and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subtraction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operations</a:t>
            </a:r>
            <a:r>
              <a:rPr lang="vi-VN" sz="2800" dirty="0">
                <a:latin typeface="Arial"/>
                <a:ea typeface="+mn-lt"/>
                <a:cs typeface="Arial"/>
              </a:rPr>
              <a:t>, </a:t>
            </a:r>
            <a:r>
              <a:rPr lang="vi-VN" sz="2800" dirty="0" err="1">
                <a:latin typeface="Arial"/>
                <a:ea typeface="+mn-lt"/>
                <a:cs typeface="Arial"/>
              </a:rPr>
              <a:t>including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normal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cases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and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overflow</a:t>
            </a:r>
            <a:r>
              <a:rPr lang="vi-VN" sz="2800" dirty="0">
                <a:latin typeface="Arial"/>
                <a:ea typeface="+mn-lt"/>
                <a:cs typeface="Arial"/>
              </a:rPr>
              <a:t> </a:t>
            </a:r>
            <a:r>
              <a:rPr lang="vi-VN" sz="2800" dirty="0" err="1">
                <a:latin typeface="Arial"/>
                <a:ea typeface="+mn-lt"/>
                <a:cs typeface="Arial"/>
              </a:rPr>
              <a:t>cases</a:t>
            </a:r>
            <a:r>
              <a:rPr lang="vi-VN" sz="2800" dirty="0">
                <a:latin typeface="Arial"/>
                <a:ea typeface="+mn-lt"/>
                <a:cs typeface="Arial"/>
              </a:rPr>
              <a:t>.</a:t>
            </a:r>
            <a:endParaRPr lang="vi-VN" sz="2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6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BECF1E7-6591-E4E2-A2D4-06FFB4F6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48" y="75758"/>
            <a:ext cx="10515600" cy="1325563"/>
          </a:xfrm>
        </p:spPr>
        <p:txBody>
          <a:bodyPr/>
          <a:lstStyle/>
          <a:p>
            <a:r>
              <a:rPr lang="vi-VN" dirty="0" err="1">
                <a:latin typeface="Times New Roman"/>
                <a:ea typeface="+mj-lt"/>
                <a:cs typeface="Times New Roman"/>
              </a:rPr>
              <a:t>Flow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Explanation</a:t>
            </a:r>
            <a:r>
              <a:rPr lang="vi-VN" dirty="0">
                <a:latin typeface="Times New Roman"/>
                <a:ea typeface="+mj-lt"/>
                <a:cs typeface="Times New Roman"/>
              </a:rPr>
              <a:t> -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Add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Sources</a:t>
            </a:r>
            <a:endParaRPr lang="vi-VN" dirty="0" err="1">
              <a:latin typeface="Times New Roman"/>
              <a:cs typeface="Times New Roman"/>
            </a:endParaRPr>
          </a:p>
        </p:txBody>
      </p:sp>
      <p:pic>
        <p:nvPicPr>
          <p:cNvPr id="4" name="Chỗ dành sẵn cho Nội dung 3" descr="Ảnh có chứa văn bản, ảnh chụp màn hình, màn hình, phần mềm&#10;&#10;Nội dung do AI tạo ra có thể không chính xác.">
            <a:extLst>
              <a:ext uri="{FF2B5EF4-FFF2-40B4-BE49-F238E27FC236}">
                <a16:creationId xmlns:a16="http://schemas.microsoft.com/office/drawing/2014/main" id="{CB1BDA74-FC83-8CBB-11EA-8BAA93D83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165" y="1393222"/>
            <a:ext cx="7436734" cy="433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52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B60594-B0A4-C7E1-5B55-F936931C0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-635"/>
            <a:ext cx="10515600" cy="1325563"/>
          </a:xfrm>
        </p:spPr>
        <p:txBody>
          <a:bodyPr/>
          <a:lstStyle/>
          <a:p>
            <a:r>
              <a:rPr lang="vi-VN" sz="3600" dirty="0" err="1">
                <a:latin typeface="Times New Roman"/>
                <a:ea typeface="+mj-lt"/>
                <a:cs typeface="Times New Roman"/>
              </a:rPr>
              <a:t>Flow</a:t>
            </a:r>
            <a:r>
              <a:rPr lang="vi-VN" sz="3600" dirty="0">
                <a:latin typeface="Times New Roman"/>
                <a:ea typeface="+mj-lt"/>
                <a:cs typeface="Times New Roman"/>
              </a:rPr>
              <a:t> </a:t>
            </a:r>
            <a:r>
              <a:rPr lang="vi-VN" sz="3600" dirty="0" err="1">
                <a:latin typeface="Times New Roman"/>
                <a:ea typeface="+mj-lt"/>
                <a:cs typeface="Times New Roman"/>
              </a:rPr>
              <a:t>Explanation</a:t>
            </a:r>
            <a:r>
              <a:rPr lang="vi-VN" sz="3600" dirty="0">
                <a:latin typeface="Times New Roman"/>
                <a:ea typeface="+mj-lt"/>
                <a:cs typeface="Times New Roman"/>
              </a:rPr>
              <a:t> - </a:t>
            </a:r>
            <a:r>
              <a:rPr lang="vi-VN" sz="3600" dirty="0" err="1">
                <a:latin typeface="Times New Roman"/>
                <a:ea typeface="+mj-lt"/>
                <a:cs typeface="Times New Roman"/>
              </a:rPr>
              <a:t>Behavioral</a:t>
            </a:r>
            <a:r>
              <a:rPr lang="vi-VN" sz="3600" dirty="0">
                <a:latin typeface="Times New Roman"/>
                <a:ea typeface="+mj-lt"/>
                <a:cs typeface="Times New Roman"/>
              </a:rPr>
              <a:t> </a:t>
            </a:r>
            <a:r>
              <a:rPr lang="vi-VN" sz="3600" dirty="0" err="1">
                <a:latin typeface="Times New Roman"/>
                <a:ea typeface="+mj-lt"/>
                <a:cs typeface="Times New Roman"/>
              </a:rPr>
              <a:t>Simulation</a:t>
            </a:r>
            <a:endParaRPr lang="vi-VN" sz="3600" dirty="0" err="1">
              <a:latin typeface="Times New Roman"/>
              <a:cs typeface="Times New Roman"/>
            </a:endParaRPr>
          </a:p>
        </p:txBody>
      </p:sp>
      <p:pic>
        <p:nvPicPr>
          <p:cNvPr id="4" name="Chỗ dành sẵn cho Nội dung 3" descr="Ảnh có chứa văn bản, ảnh chụp màn hình, màn hình, phần mềm&#10;&#10;Nội dung do AI tạo ra có thể không chính xác.">
            <a:extLst>
              <a:ext uri="{FF2B5EF4-FFF2-40B4-BE49-F238E27FC236}">
                <a16:creationId xmlns:a16="http://schemas.microsoft.com/office/drawing/2014/main" id="{1C4A2F1E-0161-1B2A-0587-51D8E86E3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4941" y="1321911"/>
            <a:ext cx="6470344" cy="4405975"/>
          </a:xfrm>
          <a:prstGeom prst="rect">
            <a:avLst/>
          </a:prstGeom>
        </p:spPr>
      </p:pic>
      <p:pic>
        <p:nvPicPr>
          <p:cNvPr id="5" name="Hình ảnh 4" descr="Ảnh có chứa văn bản, đồ điện tử, ảnh chụp màn hình, màn hình&#10;&#10;Nội dung do AI tạo ra có thể không chính xác.">
            <a:extLst>
              <a:ext uri="{FF2B5EF4-FFF2-40B4-BE49-F238E27FC236}">
                <a16:creationId xmlns:a16="http://schemas.microsoft.com/office/drawing/2014/main" id="{A17946D5-D046-417D-6B9F-2F9E15641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950" y="1321443"/>
            <a:ext cx="5825950" cy="441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9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39B1D6-2932-4FAA-A7DB-5F4EB99A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600" dirty="0" err="1">
                <a:latin typeface="Times New Roman"/>
                <a:cs typeface="Times New Roman"/>
              </a:rPr>
              <a:t>Flow</a:t>
            </a:r>
            <a:r>
              <a:rPr lang="vi-VN" sz="3600" dirty="0">
                <a:latin typeface="Times New Roman"/>
                <a:cs typeface="Times New Roman"/>
              </a:rPr>
              <a:t> </a:t>
            </a:r>
            <a:r>
              <a:rPr lang="vi-VN" sz="3600" dirty="0" err="1">
                <a:latin typeface="Times New Roman"/>
                <a:cs typeface="Times New Roman"/>
              </a:rPr>
              <a:t>Explanation</a:t>
            </a:r>
            <a:r>
              <a:rPr lang="vi-VN" sz="3600" dirty="0">
                <a:latin typeface="Times New Roman"/>
                <a:cs typeface="Times New Roman"/>
              </a:rPr>
              <a:t> </a:t>
            </a:r>
            <a:r>
              <a:rPr lang="vi-VN" sz="3600" dirty="0">
                <a:ea typeface="+mj-lt"/>
                <a:cs typeface="+mj-lt"/>
              </a:rPr>
              <a:t>- RTL </a:t>
            </a:r>
            <a:r>
              <a:rPr lang="vi-VN" sz="3600" dirty="0" err="1">
                <a:ea typeface="+mj-lt"/>
                <a:cs typeface="+mj-lt"/>
              </a:rPr>
              <a:t>Analysis</a:t>
            </a:r>
            <a:endParaRPr lang="vi-VN" sz="3600" dirty="0" err="1">
              <a:latin typeface="Times New Roman"/>
              <a:cs typeface="Times New Roman"/>
            </a:endParaRPr>
          </a:p>
          <a:p>
            <a:endParaRPr lang="vi-VN" dirty="0">
              <a:latin typeface="Times New Roman"/>
              <a:cs typeface="Times New Roman"/>
            </a:endParaRPr>
          </a:p>
        </p:txBody>
      </p:sp>
      <p:pic>
        <p:nvPicPr>
          <p:cNvPr id="8" name="Chỗ dành sẵn cho Nội dung 7" descr="Ảnh có chứa văn bản, màn hình, ảnh chụp màn hình, phần mềm&#10;&#10;Nội dung do AI tạo ra có thể không chính xác.">
            <a:extLst>
              <a:ext uri="{FF2B5EF4-FFF2-40B4-BE49-F238E27FC236}">
                <a16:creationId xmlns:a16="http://schemas.microsoft.com/office/drawing/2014/main" id="{DE95B93E-9275-2A77-D59E-BAD1595272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88561"/>
            <a:ext cx="7741920" cy="461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8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451F3A1-27EE-B455-5E4E-51270A28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err="1">
                <a:latin typeface="Times New Roman"/>
                <a:ea typeface="+mj-lt"/>
                <a:cs typeface="Times New Roman"/>
              </a:rPr>
              <a:t>Flow</a:t>
            </a:r>
            <a:r>
              <a:rPr lang="vi-VN" dirty="0">
                <a:latin typeface="Times New Roman"/>
                <a:ea typeface="+mj-lt"/>
                <a:cs typeface="Times New Roman"/>
              </a:rPr>
              <a:t>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Explanation</a:t>
            </a:r>
            <a:r>
              <a:rPr lang="vi-VN" dirty="0">
                <a:latin typeface="Times New Roman"/>
                <a:ea typeface="+mj-lt"/>
                <a:cs typeface="Times New Roman"/>
              </a:rPr>
              <a:t> -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Synthesis</a:t>
            </a:r>
            <a:r>
              <a:rPr lang="vi-VN" dirty="0">
                <a:latin typeface="Times New Roman"/>
                <a:ea typeface="+mj-lt"/>
                <a:cs typeface="Times New Roman"/>
              </a:rPr>
              <a:t> &amp; </a:t>
            </a:r>
            <a:r>
              <a:rPr lang="vi-VN" dirty="0" err="1">
                <a:latin typeface="Times New Roman"/>
                <a:ea typeface="+mj-lt"/>
                <a:cs typeface="Times New Roman"/>
              </a:rPr>
              <a:t>Utilization</a:t>
            </a:r>
            <a:endParaRPr lang="vi-VN" dirty="0" err="1">
              <a:latin typeface="Times New Roman"/>
              <a:cs typeface="Times New Roman"/>
            </a:endParaRPr>
          </a:p>
        </p:txBody>
      </p:sp>
      <p:pic>
        <p:nvPicPr>
          <p:cNvPr id="4" name="Chỗ dành sẵn cho Nội dung 3" descr="Ảnh có chứa văn bản, màn hình, ảnh chụp màn hình, phần mềm&#10;&#10;Nội dung do AI tạo ra có thể không chính xác.">
            <a:extLst>
              <a:ext uri="{FF2B5EF4-FFF2-40B4-BE49-F238E27FC236}">
                <a16:creationId xmlns:a16="http://schemas.microsoft.com/office/drawing/2014/main" id="{65DDE907-ECE8-463C-C426-17196FC5F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12203" y="1697238"/>
            <a:ext cx="6481822" cy="3749654"/>
          </a:xfrm>
          <a:prstGeom prst="rect">
            <a:avLst/>
          </a:prstGeom>
        </p:spPr>
      </p:pic>
      <p:pic>
        <p:nvPicPr>
          <p:cNvPr id="5" name="Hình ảnh 4" descr="Ảnh có chứa văn bản, ảnh chụp màn hình, màn hình, phần mềm&#10;&#10;Nội dung do AI tạo ra có thể không chính xác.">
            <a:extLst>
              <a:ext uri="{FF2B5EF4-FFF2-40B4-BE49-F238E27FC236}">
                <a16:creationId xmlns:a16="http://schemas.microsoft.com/office/drawing/2014/main" id="{F1033091-B27F-8FCD-9433-065B07BA1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990" y="1707267"/>
            <a:ext cx="6043968" cy="376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2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B1D3089-837D-C566-21F5-A3C48123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20" y="2673985"/>
            <a:ext cx="10515600" cy="1325563"/>
          </a:xfrm>
        </p:spPr>
        <p:txBody>
          <a:bodyPr/>
          <a:lstStyle/>
          <a:p>
            <a:r>
              <a:rPr lang="vi-VN" sz="6000" dirty="0" err="1">
                <a:latin typeface="Times New Roman"/>
                <a:cs typeface="Times New Roman"/>
              </a:rPr>
              <a:t>Thank</a:t>
            </a:r>
            <a:r>
              <a:rPr lang="vi-VN" sz="6000" dirty="0">
                <a:latin typeface="Times New Roman"/>
                <a:cs typeface="Times New Roman"/>
              </a:rPr>
              <a:t> </a:t>
            </a:r>
            <a:r>
              <a:rPr lang="vi-VN" sz="6000" dirty="0" err="1">
                <a:latin typeface="Times New Roman"/>
                <a:cs typeface="Times New Roman"/>
              </a:rPr>
              <a:t>you</a:t>
            </a:r>
            <a:r>
              <a:rPr lang="vi-VN" sz="6000" dirty="0">
                <a:latin typeface="Times New Roman"/>
                <a:cs typeface="Times New Roman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919895478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10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1" baseType="lpstr">
      <vt:lpstr>Chủ đề của Office</vt:lpstr>
      <vt:lpstr>Bùi Xuân Hải</vt:lpstr>
      <vt:lpstr>Operating principle</vt:lpstr>
      <vt:lpstr>Design</vt:lpstr>
      <vt:lpstr>Testbench</vt:lpstr>
      <vt:lpstr>Test Case Table</vt:lpstr>
      <vt:lpstr>Flow Explanation - Add Sources</vt:lpstr>
      <vt:lpstr>Flow Explanation - Behavioral Simulation</vt:lpstr>
      <vt:lpstr>Flow Explanation - RTL Analysis </vt:lpstr>
      <vt:lpstr>Flow Explanation - Synthesis &amp; Utilization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176</cp:revision>
  <dcterms:created xsi:type="dcterms:W3CDTF">2026-10-01T15:50:06Z</dcterms:created>
  <dcterms:modified xsi:type="dcterms:W3CDTF">2026-10-15T04:56:03Z</dcterms:modified>
</cp:coreProperties>
</file>