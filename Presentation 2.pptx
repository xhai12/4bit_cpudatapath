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F0D85D-1CBC-4152-8954-EBCD13CBCF3B}" v="149" dt="2026-10-09T01:06:33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Bấm &amp; sửa kiểu phụ đề của Bản chính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77509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73931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34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143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4" name="Chỗ dành sẵn cho Nội dung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5" name="Chỗ dành sẵn cho Văn bản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6" name="Chỗ dành sẵn cho Nội dung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7" name="Chỗ dành sẵn cho Ngày tháng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8" name="Chỗ dành sẵn cho Chân trang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530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4" name="Chỗ dành sẵn cho Chân trang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34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3" name="Chỗ dành sẵn cho Chân trang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857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02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Phụ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Bấm để sửa kiểu văn bản Bản cái</a:t>
            </a:r>
          </a:p>
        </p:txBody>
      </p:sp>
      <p:sp>
        <p:nvSpPr>
          <p:cNvPr id="5" name="Chỗ dành sẵn cho Ngày tháng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014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ề và Văn bản Dọ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4748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ề Dọc và Văn bả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500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Bấm để sửa kiểu văn bản Bản cái</a:t>
            </a:r>
          </a:p>
          <a:p>
            <a:pPr lvl="1"/>
            <a:r>
              <a:rPr lang="vi-VN"/>
              <a:t>Mức hai</a:t>
            </a:r>
          </a:p>
          <a:p>
            <a:pPr lvl="2"/>
            <a:r>
              <a:rPr lang="vi-VN"/>
              <a:t>Mức ba</a:t>
            </a:r>
          </a:p>
          <a:p>
            <a:pPr lvl="3"/>
            <a:r>
              <a:rPr lang="vi-VN"/>
              <a:t>Mức bốn</a:t>
            </a:r>
          </a:p>
          <a:p>
            <a:pPr lvl="4"/>
            <a:r>
              <a:rPr lang="vi-VN"/>
              <a:t>Mức năm</a:t>
            </a:r>
          </a:p>
        </p:txBody>
      </p:sp>
      <p:sp>
        <p:nvSpPr>
          <p:cNvPr id="4" name="Chỗ dành sẵn cho Ngày tháng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7236D-C680-4349-9A96-AEA01B6A4E8F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5" name="Chỗ dành sẵn cho Chân trang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45828D-F580-42DE-B77E-860980F07F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2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/>
          <p:cNvSpPr>
            <a:spLocks noGrp="1"/>
          </p:cNvSpPr>
          <p:nvPr>
            <p:ph type="ctrTitle"/>
          </p:nvPr>
        </p:nvSpPr>
        <p:spPr>
          <a:xfrm>
            <a:off x="-174625" y="-271497"/>
            <a:ext cx="5500688" cy="1887538"/>
          </a:xfrm>
        </p:spPr>
        <p:txBody>
          <a:bodyPr/>
          <a:lstStyle/>
          <a:p>
            <a:r>
              <a:rPr lang="vi-VN">
                <a:latin typeface="Times New Roman"/>
                <a:cs typeface="Times New Roman"/>
              </a:rPr>
              <a:t>Bùi Xuân Hải</a:t>
            </a:r>
          </a:p>
        </p:txBody>
      </p:sp>
      <p:sp>
        <p:nvSpPr>
          <p:cNvPr id="3" name="Tiêu đề phụ 2"/>
          <p:cNvSpPr>
            <a:spLocks noGrp="1"/>
          </p:cNvSpPr>
          <p:nvPr>
            <p:ph type="subTitle" idx="1"/>
          </p:nvPr>
        </p:nvSpPr>
        <p:spPr>
          <a:xfrm>
            <a:off x="-2930769" y="1612430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vi-VN" sz="3600">
                <a:latin typeface="Arial"/>
                <a:cs typeface="Arial"/>
              </a:rPr>
              <a:t>HE200952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E1FCE30C-07B6-D5B3-914B-37036DCAD62F}"/>
              </a:ext>
            </a:extLst>
          </p:cNvPr>
          <p:cNvSpPr txBox="1"/>
          <p:nvPr/>
        </p:nvSpPr>
        <p:spPr>
          <a:xfrm>
            <a:off x="470852" y="243685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3600">
                <a:latin typeface="Arial"/>
                <a:cs typeface="Arial"/>
              </a:rPr>
              <a:t>Project 1: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C5FB3796-4C49-558F-5AB6-091F4281191E}"/>
              </a:ext>
            </a:extLst>
          </p:cNvPr>
          <p:cNvSpPr txBox="1"/>
          <p:nvPr/>
        </p:nvSpPr>
        <p:spPr>
          <a:xfrm>
            <a:off x="2813537" y="3433186"/>
            <a:ext cx="722308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6000">
                <a:latin typeface="Arial"/>
                <a:cs typeface="Arial"/>
              </a:rPr>
              <a:t>4-​bit RISC CPU</a:t>
            </a:r>
          </a:p>
        </p:txBody>
      </p:sp>
    </p:spTree>
    <p:extLst>
      <p:ext uri="{BB962C8B-B14F-4D97-AF65-F5344CB8AC3E}">
        <p14:creationId xmlns:p14="http://schemas.microsoft.com/office/powerpoint/2010/main" val="2567927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07B422F-11D6-5321-B881-C8060F29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Architecture Overview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152BD87-AB46-1E88-E599-AB7408FF8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b="1">
                <a:ea typeface="+mn-lt"/>
                <a:cs typeface="+mn-lt"/>
              </a:rPr>
              <a:t>4-Bit RISC CPU:</a:t>
            </a:r>
            <a:r>
              <a:rPr lang="vi-VN">
                <a:ea typeface="+mn-lt"/>
                <a:cs typeface="+mn-lt"/>
              </a:rPr>
              <a:t> A streamlined 4-bit processor designed for optimal hardware efficiency.</a:t>
            </a:r>
            <a:endParaRPr lang="vi-VN">
              <a:cs typeface="Arial" panose="020B0604020202020204" pitchFamily="34" charset="0"/>
            </a:endParaRPr>
          </a:p>
          <a:p>
            <a:r>
              <a:rPr lang="vi-VN" b="1">
                <a:ea typeface="+mn-lt"/>
                <a:cs typeface="+mn-lt"/>
              </a:rPr>
              <a:t>Harvard Architecture:</a:t>
            </a:r>
            <a:r>
              <a:rPr lang="vi-VN">
                <a:ea typeface="+mn-lt"/>
                <a:cs typeface="+mn-lt"/>
              </a:rPr>
              <a:t> Physically separate Instruction Memory (ROM) and Data Memory (RAM) to enable simultaneous access and prevent bottlenecks.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3-Stage Pipeline:</a:t>
            </a:r>
            <a:r>
              <a:rPr lang="vi-VN">
                <a:ea typeface="+mn-lt"/>
                <a:cs typeface="+mn-lt"/>
              </a:rPr>
              <a:t> Enhances instruction throughput by overlapping operations across three stages: Fetch (IF), Decode (ID), and Execute (EX).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158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260EB35-6C3A-9F7B-FFE1-72E2D6C58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Instruction Set Architecture (ISA)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183C8E6-2AA1-B519-564C-0237A531C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vi-VN" b="1">
                <a:ea typeface="+mn-lt"/>
                <a:cs typeface="+mn-lt"/>
              </a:rPr>
              <a:t>12-Bit Instruction Format:</a:t>
            </a:r>
            <a:endParaRPr lang="vi-VN">
              <a:cs typeface="Arial" panose="020B0604020202020204" pitchFamily="34" charset="0"/>
            </a:endParaRPr>
          </a:p>
          <a:p>
            <a:r>
              <a:rPr lang="vi-VN">
                <a:latin typeface="Consolas"/>
              </a:rPr>
              <a:t>[11:8]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b="1">
                <a:latin typeface="Arial"/>
                <a:ea typeface="+mn-lt"/>
                <a:cs typeface="Arial"/>
              </a:rPr>
              <a:t>Opcode</a:t>
            </a:r>
            <a:r>
              <a:rPr lang="vi-VN">
                <a:latin typeface="Arial"/>
                <a:ea typeface="+mn-lt"/>
                <a:cs typeface="Arial"/>
              </a:rPr>
              <a:t> (4-bit)</a:t>
            </a:r>
            <a:endParaRPr lang="vi-VN">
              <a:latin typeface="Arial"/>
              <a:cs typeface="Arial"/>
            </a:endParaRPr>
          </a:p>
          <a:p>
            <a:r>
              <a:rPr lang="vi-VN">
                <a:latin typeface="Consolas"/>
              </a:rPr>
              <a:t>[7:6]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b="1">
                <a:latin typeface="Arial"/>
                <a:ea typeface="+mn-lt"/>
                <a:cs typeface="Arial"/>
              </a:rPr>
              <a:t>Rd</a:t>
            </a:r>
            <a:r>
              <a:rPr lang="vi-VN">
                <a:latin typeface="Arial"/>
                <a:ea typeface="+mn-lt"/>
                <a:cs typeface="Arial"/>
              </a:rPr>
              <a:t> - Destination Register (2-bit)</a:t>
            </a:r>
            <a:endParaRPr lang="vi-VN">
              <a:latin typeface="Arial"/>
              <a:cs typeface="Arial"/>
            </a:endParaRPr>
          </a:p>
          <a:p>
            <a:r>
              <a:rPr lang="vi-VN">
                <a:latin typeface="Consolas"/>
              </a:rPr>
              <a:t>[5:4]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b="1">
                <a:latin typeface="Arial"/>
                <a:ea typeface="+mn-lt"/>
                <a:cs typeface="Arial"/>
              </a:rPr>
              <a:t>Rs</a:t>
            </a:r>
            <a:r>
              <a:rPr lang="vi-VN">
                <a:latin typeface="Arial"/>
                <a:ea typeface="+mn-lt"/>
                <a:cs typeface="Arial"/>
              </a:rPr>
              <a:t> - Source Register (2-bit)</a:t>
            </a:r>
            <a:endParaRPr lang="vi-VN">
              <a:latin typeface="Arial"/>
              <a:cs typeface="Arial"/>
            </a:endParaRPr>
          </a:p>
          <a:p>
            <a:r>
              <a:rPr lang="vi-VN">
                <a:latin typeface="Consolas"/>
              </a:rPr>
              <a:t>[3:0]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 b="1">
                <a:latin typeface="Arial"/>
                <a:ea typeface="+mn-lt"/>
                <a:cs typeface="Arial"/>
              </a:rPr>
              <a:t>Imm/Addr</a:t>
            </a:r>
            <a:r>
              <a:rPr lang="vi-VN">
                <a:latin typeface="Arial"/>
                <a:ea typeface="+mn-lt"/>
                <a:cs typeface="Arial"/>
              </a:rPr>
              <a:t> - Immediate / Address (4-bit)</a:t>
            </a:r>
            <a:endParaRPr lang="vi-VN">
              <a:latin typeface="Arial"/>
              <a:cs typeface="Arial"/>
            </a:endParaRPr>
          </a:p>
          <a:p>
            <a:r>
              <a:rPr lang="vi-VN" b="1">
                <a:ea typeface="+mn-lt"/>
                <a:cs typeface="+mn-lt"/>
              </a:rPr>
              <a:t>Three Basic Instruction Categories: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Arithmetic &amp; Logic: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ADD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SUB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AND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OR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XOR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NOT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Data Transfer &amp; Memory: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LOAD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STORE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LDI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MOV</a:t>
            </a:r>
            <a:endParaRPr lang="vi-VN"/>
          </a:p>
          <a:p>
            <a:r>
              <a:rPr lang="vi-VN" b="1">
                <a:latin typeface="Arial"/>
                <a:ea typeface="+mn-lt"/>
                <a:cs typeface="Arial"/>
              </a:rPr>
              <a:t>Control Flow (Branching):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Consolas"/>
              </a:rPr>
              <a:t>JMP</a:t>
            </a:r>
            <a:r>
              <a:rPr lang="vi-VN">
                <a:latin typeface="Arial"/>
                <a:ea typeface="+mn-lt"/>
                <a:cs typeface="Arial"/>
              </a:rPr>
              <a:t>, </a:t>
            </a:r>
            <a:r>
              <a:rPr lang="vi-VN">
                <a:latin typeface="Consolas"/>
              </a:rPr>
              <a:t>JZ</a:t>
            </a:r>
            <a:r>
              <a:rPr lang="vi-VN">
                <a:latin typeface="Arial"/>
                <a:ea typeface="+mn-lt"/>
                <a:cs typeface="Arial"/>
              </a:rPr>
              <a:t> (Jump if Zero)</a:t>
            </a:r>
            <a:endParaRPr lang="vi-VN">
              <a:latin typeface="Arial"/>
              <a:cs typeface="Arial"/>
            </a:endParaRPr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013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10BA0C9-3FE5-398F-D34D-E1920385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39" y="-1407"/>
            <a:ext cx="10515600" cy="1325563"/>
          </a:xfrm>
        </p:spPr>
        <p:txBody>
          <a:bodyPr/>
          <a:lstStyle/>
          <a:p>
            <a:r>
              <a:rPr lang="vi-VN">
                <a:ea typeface="+mj-lt"/>
                <a:cs typeface="+mj-lt"/>
              </a:rPr>
              <a:t>Overall CPU Datapath (3-Stage Pipeline)</a:t>
            </a:r>
            <a:endParaRPr lang="vi-VN"/>
          </a:p>
        </p:txBody>
      </p:sp>
      <p:pic>
        <p:nvPicPr>
          <p:cNvPr id="4" name="Chỗ dành sẵn cho Nội dung 3">
            <a:extLst>
              <a:ext uri="{FF2B5EF4-FFF2-40B4-BE49-F238E27FC236}">
                <a16:creationId xmlns:a16="http://schemas.microsoft.com/office/drawing/2014/main" id="{B42C3EB8-B781-19EA-3FAA-D1729D48A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121941"/>
            <a:ext cx="12182354" cy="471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35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0A39DBA-47D6-CBCE-E1EE-27A0FE5C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Overall CPU Datapath (3-Stage Pipeline)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59EE922-420E-18B7-85F0-6B00B57D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vi-VN" b="1">
                <a:ea typeface="+mn-lt"/>
                <a:cs typeface="+mn-lt"/>
              </a:rPr>
              <a:t>Stage 1: Instruction Fetch (IF)</a:t>
            </a:r>
            <a:endParaRPr lang="vi-VN">
              <a:cs typeface="Arial" panose="020B0604020202020204" pitchFamily="34" charset="0"/>
            </a:endParaRPr>
          </a:p>
          <a:p>
            <a:r>
              <a:rPr lang="vi-VN">
                <a:latin typeface="Consolas"/>
              </a:rPr>
              <a:t>PC</a:t>
            </a:r>
            <a:r>
              <a:rPr lang="vi-VN">
                <a:latin typeface="Arial"/>
                <a:ea typeface="+mn-lt"/>
                <a:cs typeface="Arial"/>
              </a:rPr>
              <a:t> provides address </a:t>
            </a:r>
            <a:r>
              <a:rPr lang="vi-VN">
                <a:latin typeface="Arial"/>
                <a:cs typeface="Arial"/>
              </a:rPr>
              <a:t>-&gt;</a:t>
            </a:r>
            <a:r>
              <a:rPr lang="vi-VN">
                <a:latin typeface="Consolas"/>
              </a:rPr>
              <a:t>IMEM</a:t>
            </a:r>
            <a:r>
              <a:rPr lang="vi-VN">
                <a:latin typeface="Arial"/>
                <a:ea typeface="+mn-lt"/>
                <a:cs typeface="Arial"/>
              </a:rPr>
              <a:t> outputs instruction -&gt;Saved to </a:t>
            </a:r>
            <a:r>
              <a:rPr lang="vi-VN">
                <a:latin typeface="Consolas"/>
              </a:rPr>
              <a:t>IR</a:t>
            </a:r>
            <a:r>
              <a:rPr lang="vi-VN" dirty="0">
                <a:latin typeface="Arial"/>
                <a:ea typeface="+mn-lt"/>
                <a:cs typeface="Arial"/>
              </a:rPr>
              <a:t> </a:t>
            </a:r>
            <a:r>
              <a:rPr lang="vi-VN">
                <a:latin typeface="Arial"/>
                <a:ea typeface="+mn-lt"/>
                <a:cs typeface="Arial"/>
              </a:rPr>
              <a:t>(IF/ID).</a:t>
            </a:r>
            <a:endParaRPr lang="vi-VN">
              <a:latin typeface="Arial"/>
              <a:cs typeface="Arial"/>
            </a:endParaRPr>
          </a:p>
          <a:p>
            <a:r>
              <a:rPr lang="vi-VN" b="1">
                <a:ea typeface="+mn-lt"/>
                <a:cs typeface="+mn-lt"/>
              </a:rPr>
              <a:t>Stage 2: Instruction Decode (ID)</a:t>
            </a:r>
            <a:endParaRPr lang="vi-VN"/>
          </a:p>
          <a:p>
            <a:r>
              <a:rPr lang="vi-VN">
                <a:latin typeface="Consolas"/>
              </a:rPr>
              <a:t>CU</a:t>
            </a:r>
            <a:r>
              <a:rPr lang="vi-VN">
                <a:ea typeface="+mn-lt"/>
                <a:cs typeface="+mn-lt"/>
              </a:rPr>
              <a:t> decodes Opcode into Control Signals.</a:t>
            </a:r>
            <a:endParaRPr lang="vi-VN"/>
          </a:p>
          <a:p>
            <a:r>
              <a:rPr lang="vi-VN">
                <a:latin typeface="Consolas"/>
              </a:rPr>
              <a:t>RF</a:t>
            </a:r>
            <a:r>
              <a:rPr lang="vi-VN">
                <a:ea typeface="+mn-lt"/>
                <a:cs typeface="+mn-lt"/>
              </a:rPr>
              <a:t> (Register File) prepares source data.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Data is latched into the </a:t>
            </a:r>
            <a:r>
              <a:rPr lang="vi-VN">
                <a:latin typeface="Consolas"/>
              </a:rPr>
              <a:t>ID_EX</a:t>
            </a:r>
            <a:r>
              <a:rPr lang="vi-VN">
                <a:ea typeface="+mn-lt"/>
                <a:cs typeface="+mn-lt"/>
              </a:rPr>
              <a:t> pipeline register.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Stage 3: Execute &amp; Write-Back (EX)</a:t>
            </a:r>
            <a:endParaRPr lang="vi-VN"/>
          </a:p>
          <a:p>
            <a:r>
              <a:rPr lang="vi-VN">
                <a:latin typeface="Consolas"/>
              </a:rPr>
              <a:t>ALU</a:t>
            </a:r>
            <a:r>
              <a:rPr lang="vi-VN">
                <a:ea typeface="+mn-lt"/>
                <a:cs typeface="+mn-lt"/>
              </a:rPr>
              <a:t> executes arithmetic/logic operations.</a:t>
            </a:r>
            <a:endParaRPr lang="vi-VN"/>
          </a:p>
          <a:p>
            <a:r>
              <a:rPr lang="vi-VN">
                <a:latin typeface="Consolas"/>
              </a:rPr>
              <a:t>DMEM</a:t>
            </a:r>
            <a:r>
              <a:rPr lang="vi-VN">
                <a:ea typeface="+mn-lt"/>
                <a:cs typeface="+mn-lt"/>
              </a:rPr>
              <a:t> handles memory access (Load/Store).</a:t>
            </a:r>
            <a:endParaRPr lang="vi-VN"/>
          </a:p>
          <a:p>
            <a:r>
              <a:rPr lang="vi-VN">
                <a:latin typeface="Consolas"/>
              </a:rPr>
              <a:t>MUXes</a:t>
            </a:r>
            <a:r>
              <a:rPr lang="vi-VN">
                <a:ea typeface="+mn-lt"/>
                <a:cs typeface="+mn-lt"/>
              </a:rPr>
              <a:t> route results for Write-back or Branching.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846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0EA5542-F9E9-6363-C9FE-5F31A2D0D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Details of the 3-Stage Pipeline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C65E8D9-A2ED-7B76-EB77-9A342D5DB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vi-VN" b="1">
                <a:ea typeface="+mn-lt"/>
                <a:cs typeface="+mn-lt"/>
              </a:rPr>
              <a:t>Stage 1: Instruction Fetch (IF)</a:t>
            </a:r>
            <a:endParaRPr lang="vi-VN">
              <a:cs typeface="Arial" panose="020B0604020202020204" pitchFamily="34" charset="0"/>
            </a:endParaRPr>
          </a:p>
          <a:p>
            <a:r>
              <a:rPr lang="vi-VN">
                <a:ea typeface="+mn-lt"/>
                <a:cs typeface="+mn-lt"/>
              </a:rPr>
              <a:t>Retrieves the 12-bit instruction from Instruction Memory (ROM).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Updates the Program Counter (PC) for the next cycle.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Stage 2: Instruction Decode (ID)</a:t>
            </a:r>
            <a:endParaRPr lang="vi-VN"/>
          </a:p>
          <a:p>
            <a:r>
              <a:rPr lang="vi-VN">
                <a:ea typeface="+mn-lt"/>
                <a:cs typeface="+mn-lt"/>
              </a:rPr>
              <a:t>Translates the Opcode into execution Control Signals.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Reads source data from the Register File.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Stage 3: Execute &amp; Write-Back (EX)</a:t>
            </a:r>
            <a:endParaRPr lang="vi-VN"/>
          </a:p>
          <a:p>
            <a:r>
              <a:rPr lang="vi-VN">
                <a:ea typeface="+mn-lt"/>
                <a:cs typeface="+mn-lt"/>
              </a:rPr>
              <a:t>Performs arithmetic and logic calculations (ALU).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Executes Memory Load/Store operations.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Writes results back to the destination register.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2579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EABC746-234B-905C-1E53-74FF9DA97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Handling Branch Instructions (Pipeline Flush)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0AD7CD4-A8CD-B014-8029-3AFB95E94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vi-VN" b="1">
                <a:ea typeface="+mn-lt"/>
                <a:cs typeface="+mn-lt"/>
              </a:rPr>
              <a:t>The Issue:</a:t>
            </a:r>
            <a:endParaRPr lang="vi-VN">
              <a:cs typeface="Arial" panose="020B0604020202020204" pitchFamily="34" charset="0"/>
            </a:endParaRPr>
          </a:p>
          <a:p>
            <a:r>
              <a:rPr lang="vi-VN">
                <a:ea typeface="+mn-lt"/>
                <a:cs typeface="+mn-lt"/>
              </a:rPr>
              <a:t>When a Jump instruction (</a:t>
            </a:r>
            <a:r>
              <a:rPr lang="vi-VN">
                <a:latin typeface="Consolas"/>
              </a:rPr>
              <a:t>JMP</a:t>
            </a:r>
            <a:r>
              <a:rPr lang="vi-VN">
                <a:ea typeface="+mn-lt"/>
                <a:cs typeface="+mn-lt"/>
              </a:rPr>
              <a:t> or </a:t>
            </a:r>
            <a:r>
              <a:rPr lang="vi-VN">
                <a:latin typeface="Consolas"/>
              </a:rPr>
              <a:t>JZ</a:t>
            </a:r>
            <a:r>
              <a:rPr lang="vi-VN">
                <a:ea typeface="+mn-lt"/>
                <a:cs typeface="+mn-lt"/>
              </a:rPr>
              <a:t>) is executed, the CPU changes its path.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However, the pipeline has already pre-fetched the next two sequential instructions.</a:t>
            </a:r>
            <a:endParaRPr lang="vi-VN"/>
          </a:p>
          <a:p>
            <a:r>
              <a:rPr lang="vi-VN" b="1">
                <a:ea typeface="+mn-lt"/>
                <a:cs typeface="+mn-lt"/>
              </a:rPr>
              <a:t>The Solution: Pipeline Flush</a:t>
            </a:r>
            <a:endParaRPr lang="vi-VN"/>
          </a:p>
          <a:p>
            <a:r>
              <a:rPr lang="vi-VN">
                <a:ea typeface="+mn-lt"/>
                <a:cs typeface="+mn-lt"/>
              </a:rPr>
              <a:t>The Control Unit detects the jump and activates a </a:t>
            </a:r>
            <a:r>
              <a:rPr lang="vi-VN">
                <a:latin typeface="Consolas"/>
              </a:rPr>
              <a:t>flush</a:t>
            </a:r>
            <a:r>
              <a:rPr lang="vi-VN">
                <a:ea typeface="+mn-lt"/>
                <a:cs typeface="+mn-lt"/>
              </a:rPr>
              <a:t> signal.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This clears the wrong instructions in the pipeline (replacing them with </a:t>
            </a:r>
            <a:r>
              <a:rPr lang="vi-VN">
                <a:latin typeface="Consolas"/>
              </a:rPr>
              <a:t>NOP</a:t>
            </a:r>
            <a:r>
              <a:rPr lang="vi-VN">
                <a:ea typeface="+mn-lt"/>
                <a:cs typeface="+mn-lt"/>
              </a:rPr>
              <a:t> / bubbles).</a:t>
            </a:r>
            <a:endParaRPr lang="vi-VN"/>
          </a:p>
          <a:p>
            <a:r>
              <a:rPr lang="vi-VN">
                <a:ea typeface="+mn-lt"/>
                <a:cs typeface="+mn-lt"/>
              </a:rPr>
              <a:t>The CPU then fetches from the correct new address.</a:t>
            </a:r>
            <a:endParaRPr lang="vi-VN"/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5511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D35C38D-8E78-660F-A91F-7047F4E7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804" y="-137293"/>
            <a:ext cx="10515600" cy="1325563"/>
          </a:xfrm>
        </p:spPr>
        <p:txBody>
          <a:bodyPr/>
          <a:lstStyle/>
          <a:p>
            <a:r>
              <a:rPr lang="vi-VN">
                <a:ea typeface="+mj-lt"/>
                <a:cs typeface="+mj-lt"/>
              </a:rPr>
              <a:t>System Verification: Waveform Results</a:t>
            </a:r>
            <a:endParaRPr lang="vi-VN"/>
          </a:p>
        </p:txBody>
      </p:sp>
      <p:pic>
        <p:nvPicPr>
          <p:cNvPr id="4" name="Chỗ dành sẵn cho Nội dung 3" descr="Ảnh có chứa văn bản, ảnh chụp màn hình, màn hình, biểu đồ&#10;&#10;Nội dung do AI tạo ra có thể không chính xác.">
            <a:extLst>
              <a:ext uri="{FF2B5EF4-FFF2-40B4-BE49-F238E27FC236}">
                <a16:creationId xmlns:a16="http://schemas.microsoft.com/office/drawing/2014/main" id="{35E55856-28B7-C6D8-2AD0-75DE03B27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419" y="1064218"/>
            <a:ext cx="10919207" cy="52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90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BB95F758-F3E3-E055-D249-5B496D06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ea typeface="+mj-lt"/>
                <a:cs typeface="+mj-lt"/>
              </a:rPr>
              <a:t>System Verification: Waveform Results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BD1B82C5-9D17-CCF3-97F7-A99C57B94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vi-VN" b="1">
                <a:ea typeface="+mn-lt"/>
                <a:cs typeface="+mn-lt"/>
              </a:rPr>
              <a:t>5 Automated Test Phases:</a:t>
            </a:r>
            <a:r>
              <a:rPr lang="vi-VN">
                <a:ea typeface="+mn-lt"/>
                <a:cs typeface="+mn-lt"/>
              </a:rPr>
              <a:t> Clearly visible via the </a:t>
            </a:r>
            <a:r>
              <a:rPr lang="vi-VN">
                <a:latin typeface="Consolas"/>
              </a:rPr>
              <a:t>rst</a:t>
            </a:r>
            <a:r>
              <a:rPr lang="vi-VN">
                <a:ea typeface="+mn-lt"/>
                <a:cs typeface="+mn-lt"/>
              </a:rPr>
              <a:t> (reset) signal spikes.</a:t>
            </a:r>
          </a:p>
          <a:p>
            <a:r>
              <a:rPr lang="vi-VN" b="1">
                <a:ea typeface="+mn-lt"/>
                <a:cs typeface="+mn-lt"/>
              </a:rPr>
              <a:t>Flawless Execution:</a:t>
            </a:r>
            <a:endParaRPr lang="vi-VN">
              <a:ea typeface="+mn-lt"/>
              <a:cs typeface="+mn-lt"/>
            </a:endParaRPr>
          </a:p>
          <a:p>
            <a:r>
              <a:rPr lang="vi-VN">
                <a:ea typeface="+mn-lt"/>
                <a:cs typeface="+mn-lt"/>
              </a:rPr>
              <a:t>The </a:t>
            </a:r>
            <a:r>
              <a:rPr lang="vi-VN">
                <a:latin typeface="Consolas"/>
              </a:rPr>
              <a:t>errors</a:t>
            </a:r>
            <a:r>
              <a:rPr lang="vi-VN">
                <a:ea typeface="+mn-lt"/>
                <a:cs typeface="+mn-lt"/>
              </a:rPr>
              <a:t> signal remains strictly at </a:t>
            </a:r>
            <a:r>
              <a:rPr lang="vi-VN">
                <a:latin typeface="Consolas"/>
              </a:rPr>
              <a:t>00000000</a:t>
            </a:r>
            <a:r>
              <a:rPr lang="vi-VN">
                <a:ea typeface="+mn-lt"/>
                <a:cs typeface="+mn-lt"/>
              </a:rPr>
              <a:t>.</a:t>
            </a:r>
          </a:p>
          <a:p>
            <a:r>
              <a:rPr lang="vi-VN">
                <a:ea typeface="+mn-lt"/>
                <a:cs typeface="+mn-lt"/>
              </a:rPr>
              <a:t>The </a:t>
            </a:r>
            <a:r>
              <a:rPr lang="vi-VN">
                <a:latin typeface="Consolas"/>
              </a:rPr>
              <a:t>checks</a:t>
            </a:r>
            <a:r>
              <a:rPr lang="vi-VN">
                <a:ea typeface="+mn-lt"/>
                <a:cs typeface="+mn-lt"/>
              </a:rPr>
              <a:t> counter successfully reaches </a:t>
            </a:r>
            <a:r>
              <a:rPr lang="vi-VN">
                <a:latin typeface="Consolas"/>
              </a:rPr>
              <a:t>0x2C</a:t>
            </a:r>
            <a:r>
              <a:rPr lang="vi-VN">
                <a:ea typeface="+mn-lt"/>
                <a:cs typeface="+mn-lt"/>
              </a:rPr>
              <a:t> (44 passed tests).</a:t>
            </a:r>
          </a:p>
          <a:p>
            <a:r>
              <a:rPr lang="vi-VN" b="1">
                <a:ea typeface="+mn-lt"/>
                <a:cs typeface="+mn-lt"/>
              </a:rPr>
              <a:t>Visual Proof of Pipeline Flush:</a:t>
            </a:r>
            <a:endParaRPr lang="vi-VN">
              <a:ea typeface="+mn-lt"/>
              <a:cs typeface="+mn-lt"/>
            </a:endParaRPr>
          </a:p>
          <a:p>
            <a:r>
              <a:rPr lang="vi-VN">
                <a:latin typeface="Consolas"/>
              </a:rPr>
              <a:t>c00</a:t>
            </a:r>
            <a:r>
              <a:rPr lang="vi-VN">
                <a:ea typeface="+mn-lt"/>
                <a:cs typeface="+mn-lt"/>
              </a:rPr>
              <a:t> (NOP / Bubbles) can be seen injected into the </a:t>
            </a:r>
            <a:r>
              <a:rPr lang="vi-VN">
                <a:latin typeface="Consolas"/>
              </a:rPr>
              <a:t>instr_out</a:t>
            </a:r>
            <a:r>
              <a:rPr lang="vi-VN">
                <a:ea typeface="+mn-lt"/>
                <a:cs typeface="+mn-lt"/>
              </a:rPr>
              <a:t> stream during resets and jumps.</a:t>
            </a:r>
          </a:p>
          <a:p>
            <a:endParaRPr lang="vi-VN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766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BF0D098-F03B-3711-C5AA-FA2EB2B31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9804" y="2542268"/>
            <a:ext cx="10515600" cy="1325563"/>
          </a:xfrm>
        </p:spPr>
        <p:txBody>
          <a:bodyPr/>
          <a:lstStyle/>
          <a:p>
            <a:r>
              <a:rPr lang="vi-VN">
                <a:latin typeface="Times New Roman"/>
                <a:cs typeface="Times New Roman"/>
              </a:rPr>
              <a:t>Thank you for listening</a:t>
            </a:r>
            <a:endParaRPr lang="vi-VN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0D49761-5D13-B006-FDFE-4AE8254AB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2172297"/>
      </p:ext>
    </p:extLst>
  </p:cSld>
  <p:clrMapOvr>
    <a:masterClrMapping/>
  </p:clrMapOvr>
</p:sld>
</file>

<file path=ppt/theme/theme1.xml><?xml version="1.0" encoding="utf-8"?>
<a:theme xmlns:a="http://schemas.openxmlformats.org/drawingml/2006/main" name="Chủ đề của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Màn hình rộng</PresentationFormat>
  <Paragraphs>0</Paragraphs>
  <Slides>10</Slides>
  <Notes>0</Notes>
  <HiddenSlides>0</HiddenSlides>
  <MMClips>0</MMClip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10</vt:i4>
      </vt:variant>
    </vt:vector>
  </HeadingPairs>
  <TitlesOfParts>
    <vt:vector size="11" baseType="lpstr">
      <vt:lpstr>Chủ đề của Office</vt:lpstr>
      <vt:lpstr>Bùi Xuân Hải</vt:lpstr>
      <vt:lpstr>Architecture Overview</vt:lpstr>
      <vt:lpstr>Instruction Set Architecture (ISA)</vt:lpstr>
      <vt:lpstr>Overall CPU Datapath (3-Stage Pipeline)</vt:lpstr>
      <vt:lpstr>Overall CPU Datapath (3-Stage Pipeline)</vt:lpstr>
      <vt:lpstr>Details of the 3-Stage Pipeline</vt:lpstr>
      <vt:lpstr>Handling Branch Instructions (Pipeline Flush)</vt:lpstr>
      <vt:lpstr>System Verification: Waveform Results</vt:lpstr>
      <vt:lpstr>System Verification: Waveform Results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75</cp:revision>
  <dcterms:created xsi:type="dcterms:W3CDTF">2026-10-08T15:13:11Z</dcterms:created>
  <dcterms:modified xsi:type="dcterms:W3CDTF">2026-10-09T01:17:34Z</dcterms:modified>
</cp:coreProperties>
</file>